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6552"/>
  </p:normalViewPr>
  <p:slideViewPr>
    <p:cSldViewPr snapToGrid="0" snapToObjects="1">
      <p:cViewPr varScale="1">
        <p:scale>
          <a:sx n="82" d="100"/>
          <a:sy n="82" d="100"/>
        </p:scale>
        <p:origin x="557"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5C8E-228E-D649-BC6B-63C9DBAFE64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373A299-6F2B-7542-A4B8-FDE070FB70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E5EF4C-C111-B248-89C5-988FE64017E4}"/>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5" name="Footer Placeholder 4">
            <a:extLst>
              <a:ext uri="{FF2B5EF4-FFF2-40B4-BE49-F238E27FC236}">
                <a16:creationId xmlns:a16="http://schemas.microsoft.com/office/drawing/2014/main" id="{CCEF45B3-B9CD-CF40-B26C-CED2B06AB9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95D339-4FC3-9C47-8719-137F2A49991F}"/>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2971760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E6105-AAD6-9544-98A6-21B07146E6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77243F4-0E49-8942-BED2-E46B729337E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5548461-8719-8D4B-B387-B1E405E51096}"/>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5" name="Footer Placeholder 4">
            <a:extLst>
              <a:ext uri="{FF2B5EF4-FFF2-40B4-BE49-F238E27FC236}">
                <a16:creationId xmlns:a16="http://schemas.microsoft.com/office/drawing/2014/main" id="{9D07A477-80F2-9F48-AA89-0F8862E11D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BBFFF-62E3-5842-A376-1A3AC1B00094}"/>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3338524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3FF3C-BA29-2E4A-9846-EE264BB3DC1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B3272EF-CCFD-E24E-ACE4-4088C12429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96E2DF6-98C4-9E4E-8424-2A163FC19757}"/>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5" name="Footer Placeholder 4">
            <a:extLst>
              <a:ext uri="{FF2B5EF4-FFF2-40B4-BE49-F238E27FC236}">
                <a16:creationId xmlns:a16="http://schemas.microsoft.com/office/drawing/2014/main" id="{3F811FE0-898D-9F45-AEBC-3B338FA24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34F800-C10D-E74A-8C52-FF0A048549D2}"/>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3395378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EB274-915A-5A44-8761-1821023545E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1EAE63D-4A77-DC45-A934-C2242C1E217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D94274E-ECE2-1245-97EC-21B80640FB3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A36A6C6-8912-9B49-AC50-98EEA3962AA1}"/>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6" name="Footer Placeholder 5">
            <a:extLst>
              <a:ext uri="{FF2B5EF4-FFF2-40B4-BE49-F238E27FC236}">
                <a16:creationId xmlns:a16="http://schemas.microsoft.com/office/drawing/2014/main" id="{C41FA7E3-F27E-7F4A-A18E-7C1B547A1F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7E48A5-5C08-B444-BAA0-FD89853F50E1}"/>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3374846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F032E-2142-944F-A151-5FF237BBA39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CDEB98E-75FA-ED48-9C30-36F4D8D7D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62020B-3B53-7B46-B0CC-0184F174548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367A623-A18D-174F-8678-9072CF5184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D0E5D57-9A0D-044C-B571-CB256394768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10C5EFA-34B0-2D42-9732-2F20058290D5}"/>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8" name="Footer Placeholder 7">
            <a:extLst>
              <a:ext uri="{FF2B5EF4-FFF2-40B4-BE49-F238E27FC236}">
                <a16:creationId xmlns:a16="http://schemas.microsoft.com/office/drawing/2014/main" id="{EDABA531-F11F-7841-9527-48A81A3664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DA4081-C9EB-4941-AFD0-60AC1A551440}"/>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2445342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17DBF-23D7-2A45-A2CD-D0B70A1DAD0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F48BE7B-091C-7946-9C3C-D24CF2B6AE1D}"/>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4" name="Footer Placeholder 3">
            <a:extLst>
              <a:ext uri="{FF2B5EF4-FFF2-40B4-BE49-F238E27FC236}">
                <a16:creationId xmlns:a16="http://schemas.microsoft.com/office/drawing/2014/main" id="{ECE08F23-52CD-6746-8B5B-DD30965A23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1660E5-0D41-494B-B1E0-693732AF273A}"/>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4280130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C8200C-E894-9B42-AEF9-031C3B458FCC}"/>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3" name="Footer Placeholder 2">
            <a:extLst>
              <a:ext uri="{FF2B5EF4-FFF2-40B4-BE49-F238E27FC236}">
                <a16:creationId xmlns:a16="http://schemas.microsoft.com/office/drawing/2014/main" id="{9D0BC124-5770-BC41-96EE-763E047EB0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6CB5CC-6E5D-9145-B9E6-9D46764C1B50}"/>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3137553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1707A-31C3-DE4D-8B03-B964110FEE3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FF7F272-7226-E147-BB46-203F435428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53C6554-1858-FB43-A8C4-A92D0CC9BA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3692875-A0FA-5746-8516-3D73586C5ACF}"/>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6" name="Footer Placeholder 5">
            <a:extLst>
              <a:ext uri="{FF2B5EF4-FFF2-40B4-BE49-F238E27FC236}">
                <a16:creationId xmlns:a16="http://schemas.microsoft.com/office/drawing/2014/main" id="{5599CD65-5AC8-A64D-8FD8-15B49367AB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00BD09-EED8-4847-8881-4C73B7491381}"/>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3499755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CE22B-D080-7C4B-A71A-936848D4B14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E7193FC-408E-1C46-ACB7-B13BEC67DB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75516-18DA-EE40-B590-DAA693CC1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1F47820-56B7-EC4D-8816-3646526EE647}"/>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6" name="Footer Placeholder 5">
            <a:extLst>
              <a:ext uri="{FF2B5EF4-FFF2-40B4-BE49-F238E27FC236}">
                <a16:creationId xmlns:a16="http://schemas.microsoft.com/office/drawing/2014/main" id="{FA00C5C4-F1B5-EC44-AB82-45A5A6B16B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67EC94-9BA9-1D44-B41C-87A03EB8810F}"/>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2941366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56301-F0D5-944F-8F4B-21B55AA2F2A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7C3A2D9-76FD-CA48-B599-F4C5CAD0C19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4ED1A41-8168-8D4A-9875-AD0F48051C58}"/>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5" name="Footer Placeholder 4">
            <a:extLst>
              <a:ext uri="{FF2B5EF4-FFF2-40B4-BE49-F238E27FC236}">
                <a16:creationId xmlns:a16="http://schemas.microsoft.com/office/drawing/2014/main" id="{8A2A0D18-1905-A640-8B3F-83E466811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8E9EC-0B6C-BC44-9695-3E5D373C3F4C}"/>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439577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C9CD34-E60D-454B-968D-0B307172A95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3F65D48-957B-4942-AEA5-98B874FA2CE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40C3814-CA00-4345-AD74-944C9FBF2523}"/>
              </a:ext>
            </a:extLst>
          </p:cNvPr>
          <p:cNvSpPr>
            <a:spLocks noGrp="1"/>
          </p:cNvSpPr>
          <p:nvPr>
            <p:ph type="dt" sz="half" idx="10"/>
          </p:nvPr>
        </p:nvSpPr>
        <p:spPr/>
        <p:txBody>
          <a:bodyPr/>
          <a:lstStyle/>
          <a:p>
            <a:fld id="{A4478F07-8077-7E48-9B94-507B1ED5FE67}" type="datetimeFigureOut">
              <a:rPr lang="en-US" smtClean="0"/>
              <a:t>8/10/2023</a:t>
            </a:fld>
            <a:endParaRPr lang="en-US"/>
          </a:p>
        </p:txBody>
      </p:sp>
      <p:sp>
        <p:nvSpPr>
          <p:cNvPr id="5" name="Footer Placeholder 4">
            <a:extLst>
              <a:ext uri="{FF2B5EF4-FFF2-40B4-BE49-F238E27FC236}">
                <a16:creationId xmlns:a16="http://schemas.microsoft.com/office/drawing/2014/main" id="{898662FF-B281-984A-A638-2B551E5C69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DDA9D5-0D14-8A4C-8ADC-7DA1A4CF88A9}"/>
              </a:ext>
            </a:extLst>
          </p:cNvPr>
          <p:cNvSpPr>
            <a:spLocks noGrp="1"/>
          </p:cNvSpPr>
          <p:nvPr>
            <p:ph type="sldNum" sz="quarter" idx="12"/>
          </p:nvPr>
        </p:nvSpPr>
        <p:spPr/>
        <p:txBody>
          <a:bodyPr/>
          <a:lstStyle/>
          <a:p>
            <a:fld id="{48966464-5813-3A44-9FA0-429EDF9E3B17}" type="slidenum">
              <a:rPr lang="en-US" smtClean="0"/>
              <a:t>‹#›</a:t>
            </a:fld>
            <a:endParaRPr lang="en-US"/>
          </a:p>
        </p:txBody>
      </p:sp>
    </p:spTree>
    <p:extLst>
      <p:ext uri="{BB962C8B-B14F-4D97-AF65-F5344CB8AC3E}">
        <p14:creationId xmlns:p14="http://schemas.microsoft.com/office/powerpoint/2010/main" val="1960421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1E9A6D-ECE3-4B47-AF09-1BED5E3A69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22FDAB7-441D-8349-B593-A6854AFE1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AC27D5-CBBF-1341-98DB-2EA376B140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478F07-8077-7E48-9B94-507B1ED5FE67}" type="datetimeFigureOut">
              <a:rPr lang="en-US" smtClean="0"/>
              <a:t>8/10/2023</a:t>
            </a:fld>
            <a:endParaRPr lang="en-US"/>
          </a:p>
        </p:txBody>
      </p:sp>
      <p:sp>
        <p:nvSpPr>
          <p:cNvPr id="5" name="Footer Placeholder 4">
            <a:extLst>
              <a:ext uri="{FF2B5EF4-FFF2-40B4-BE49-F238E27FC236}">
                <a16:creationId xmlns:a16="http://schemas.microsoft.com/office/drawing/2014/main" id="{CC4A0942-A839-9D47-92EB-7263715214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52A257C-E4FC-D34D-8455-8A8D3F065F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966464-5813-3A44-9FA0-429EDF9E3B17}" type="slidenum">
              <a:rPr lang="en-US" smtClean="0"/>
              <a:t>‹#›</a:t>
            </a:fld>
            <a:endParaRPr lang="en-US"/>
          </a:p>
        </p:txBody>
      </p:sp>
    </p:spTree>
    <p:extLst>
      <p:ext uri="{BB962C8B-B14F-4D97-AF65-F5344CB8AC3E}">
        <p14:creationId xmlns:p14="http://schemas.microsoft.com/office/powerpoint/2010/main" val="1455585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210;p1">
            <a:extLst>
              <a:ext uri="{FF2B5EF4-FFF2-40B4-BE49-F238E27FC236}">
                <a16:creationId xmlns:a16="http://schemas.microsoft.com/office/drawing/2014/main" id="{ECB68B23-6D9A-CF4C-B8E2-B43ED4F15B50}"/>
              </a:ext>
            </a:extLst>
          </p:cNvPr>
          <p:cNvSpPr txBox="1">
            <a:spLocks noGrp="1"/>
          </p:cNvSpPr>
          <p:nvPr>
            <p:ph type="ctrTitle"/>
          </p:nvPr>
        </p:nvSpPr>
        <p:spPr>
          <a:xfrm>
            <a:off x="3066439" y="547902"/>
            <a:ext cx="8272668" cy="1151688"/>
          </a:xfrm>
          <a:prstGeom prst="rect">
            <a:avLst/>
          </a:prstGeom>
          <a:noFill/>
          <a:ln>
            <a:solidFill>
              <a:schemeClr val="bg1"/>
            </a:solid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600"/>
              <a:buFont typeface="Franklin Gothic"/>
              <a:buNone/>
            </a:pPr>
            <a:r>
              <a:rPr lang="en-US" sz="2800" b="1" dirty="0">
                <a:latin typeface="Copperplate Gothic Bold" panose="020E0705020206020404" pitchFamily="34" charset="77"/>
                <a:ea typeface="Helvetica Neue" panose="02000503000000020004" pitchFamily="2" charset="0"/>
                <a:cs typeface="Helvetica Neue" panose="02000503000000020004" pitchFamily="2" charset="0"/>
              </a:rPr>
              <a:t>Basic Details of the Team and Problem Statement</a:t>
            </a:r>
            <a:endParaRPr sz="4800" dirty="0">
              <a:latin typeface="Copperplate Gothic Bold" panose="020E0705020206020404" pitchFamily="34" charset="77"/>
              <a:ea typeface="Helvetica Neue" panose="02000503000000020004" pitchFamily="2" charset="0"/>
              <a:cs typeface="Helvetica Neue" panose="02000503000000020004" pitchFamily="2" charset="0"/>
            </a:endParaRPr>
          </a:p>
        </p:txBody>
      </p:sp>
      <p:sp>
        <p:nvSpPr>
          <p:cNvPr id="5" name="Google Shape;211;p1">
            <a:extLst>
              <a:ext uri="{FF2B5EF4-FFF2-40B4-BE49-F238E27FC236}">
                <a16:creationId xmlns:a16="http://schemas.microsoft.com/office/drawing/2014/main" id="{D6916557-1E6B-6D47-A713-F79105FE7928}"/>
              </a:ext>
            </a:extLst>
          </p:cNvPr>
          <p:cNvSpPr txBox="1">
            <a:spLocks/>
          </p:cNvSpPr>
          <p:nvPr/>
        </p:nvSpPr>
        <p:spPr>
          <a:xfrm>
            <a:off x="3442685" y="2109766"/>
            <a:ext cx="7520176" cy="3223242"/>
          </a:xfrm>
          <a:prstGeom prst="rect">
            <a:avLst/>
          </a:prstGeom>
          <a:noFill/>
          <a:ln>
            <a:solidFill>
              <a:schemeClr val="tx1"/>
            </a:solidFill>
          </a:ln>
        </p:spPr>
        <p:txBody>
          <a:bodyPr spcFirstLastPara="1" vert="horz" wrap="square" lIns="0" tIns="0" rIns="0" bIns="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chemeClr val="lt2"/>
              </a:buClr>
              <a:buSzPts val="1800"/>
            </a:pPr>
            <a:r>
              <a:rPr lang="en-US" dirty="0">
                <a:latin typeface="Franklin Gothic"/>
                <a:sym typeface="Franklin Gothic"/>
              </a:rPr>
              <a:t>Team ID: R2_HMED_C51</a:t>
            </a:r>
            <a:endParaRPr lang="en-US" dirty="0"/>
          </a:p>
          <a:p>
            <a:pPr algn="l">
              <a:buClr>
                <a:schemeClr val="lt2"/>
              </a:buClr>
              <a:buSzPts val="1800"/>
            </a:pPr>
            <a:r>
              <a:rPr lang="en-US" dirty="0">
                <a:latin typeface="Franklin Gothic"/>
                <a:ea typeface="Franklin Gothic"/>
                <a:cs typeface="Franklin Gothic"/>
                <a:sym typeface="Franklin Gothic"/>
              </a:rPr>
              <a:t>   </a:t>
            </a:r>
            <a:br>
              <a:rPr lang="en-US" dirty="0">
                <a:latin typeface="Franklin Gothic"/>
                <a:ea typeface="Franklin Gothic"/>
                <a:cs typeface="Franklin Gothic"/>
                <a:sym typeface="Franklin Gothic"/>
              </a:rPr>
            </a:br>
            <a:r>
              <a:rPr lang="en-US" dirty="0">
                <a:latin typeface="Franklin Gothic"/>
                <a:ea typeface="Franklin Gothic"/>
                <a:cs typeface="Franklin Gothic"/>
                <a:sym typeface="Franklin Gothic"/>
              </a:rPr>
              <a:t>Track Name: MEDICAL DEVICES AND EQUIPMENTS</a:t>
            </a:r>
          </a:p>
          <a:p>
            <a:pPr algn="l">
              <a:buClr>
                <a:schemeClr val="lt2"/>
              </a:buClr>
              <a:buSzPts val="1800"/>
            </a:pPr>
            <a:endParaRPr lang="en-US" dirty="0">
              <a:latin typeface="Franklin Gothic"/>
              <a:ea typeface="Franklin Gothic"/>
              <a:cs typeface="Franklin Gothic"/>
              <a:sym typeface="Franklin Gothic"/>
            </a:endParaRPr>
          </a:p>
          <a:p>
            <a:pPr algn="l">
              <a:buClr>
                <a:schemeClr val="lt2"/>
              </a:buClr>
              <a:buSzPts val="1800"/>
            </a:pPr>
            <a:r>
              <a:rPr lang="en-US" dirty="0">
                <a:latin typeface="Franklin Gothic"/>
                <a:ea typeface="Franklin Gothic"/>
                <a:cs typeface="Franklin Gothic"/>
                <a:sym typeface="Franklin Gothic"/>
              </a:rPr>
              <a:t>Problem Statement Title: Designing a device that can automatically dispense medication and track patient adherence to medication schedules</a:t>
            </a:r>
          </a:p>
          <a:p>
            <a:pPr algn="l">
              <a:buClr>
                <a:schemeClr val="lt2"/>
              </a:buClr>
              <a:buSzPts val="1800"/>
            </a:pPr>
            <a:endParaRPr lang="en-US" dirty="0"/>
          </a:p>
          <a:p>
            <a:pPr algn="l">
              <a:buClr>
                <a:schemeClr val="lt2"/>
              </a:buClr>
              <a:buSzPts val="1800"/>
            </a:pPr>
            <a:endParaRPr lang="en-US" dirty="0">
              <a:latin typeface="Franklin Gothic"/>
              <a:ea typeface="Franklin Gothic"/>
              <a:cs typeface="Franklin Gothic"/>
              <a:sym typeface="Franklin Gothic"/>
            </a:endParaRPr>
          </a:p>
        </p:txBody>
      </p:sp>
      <p:sp>
        <p:nvSpPr>
          <p:cNvPr id="6" name="TextBox 5">
            <a:extLst>
              <a:ext uri="{FF2B5EF4-FFF2-40B4-BE49-F238E27FC236}">
                <a16:creationId xmlns:a16="http://schemas.microsoft.com/office/drawing/2014/main" id="{9197DF70-8AD3-A546-85D9-A835DB7AFD0B}"/>
              </a:ext>
            </a:extLst>
          </p:cNvPr>
          <p:cNvSpPr txBox="1"/>
          <p:nvPr/>
        </p:nvSpPr>
        <p:spPr>
          <a:xfrm>
            <a:off x="417442" y="3136612"/>
            <a:ext cx="3279914" cy="584775"/>
          </a:xfrm>
          <a:prstGeom prst="rect">
            <a:avLst/>
          </a:prstGeom>
          <a:noFill/>
          <a:ln>
            <a:solidFill>
              <a:schemeClr val="bg1"/>
            </a:solidFill>
          </a:ln>
        </p:spPr>
        <p:txBody>
          <a:bodyPr wrap="square" rtlCol="0">
            <a:spAutoFit/>
          </a:bodyPr>
          <a:lstStyle/>
          <a:p>
            <a:r>
              <a:rPr lang="en-US" sz="3200" dirty="0">
                <a:latin typeface="Franklin Gothic Medium" panose="020B0603020102020204" pitchFamily="34" charset="0"/>
              </a:rPr>
              <a:t>ROUND #2</a:t>
            </a:r>
          </a:p>
        </p:txBody>
      </p:sp>
    </p:spTree>
    <p:extLst>
      <p:ext uri="{BB962C8B-B14F-4D97-AF65-F5344CB8AC3E}">
        <p14:creationId xmlns:p14="http://schemas.microsoft.com/office/powerpoint/2010/main" val="3941192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Google Shape;217;p2">
            <a:extLst>
              <a:ext uri="{FF2B5EF4-FFF2-40B4-BE49-F238E27FC236}">
                <a16:creationId xmlns:a16="http://schemas.microsoft.com/office/drawing/2014/main" id="{FC673FEC-3705-984B-B0E2-497899EC3F10}"/>
              </a:ext>
            </a:extLst>
          </p:cNvPr>
          <p:cNvSpPr txBox="1">
            <a:spLocks/>
          </p:cNvSpPr>
          <p:nvPr/>
        </p:nvSpPr>
        <p:spPr>
          <a:xfrm>
            <a:off x="3083973" y="427383"/>
            <a:ext cx="6024054" cy="696564"/>
          </a:xfrm>
          <a:prstGeom prst="rect">
            <a:avLst/>
          </a:prstGeom>
          <a:noFill/>
          <a:ln>
            <a:solidFill>
              <a:schemeClr val="bg1"/>
            </a:solidFill>
          </a:ln>
        </p:spPr>
        <p:txBody>
          <a:bodyPr spcFirstLastPara="1" vert="horz" wrap="square" lIns="0" tIns="0" rIns="0" bIns="0" rtlCol="0" anchor="b" anchorCtr="0">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dk1"/>
              </a:buClr>
              <a:buSzPct val="100000"/>
              <a:buFont typeface="Franklin Gothic"/>
              <a:buNone/>
            </a:pPr>
            <a:r>
              <a:rPr lang="en-US" dirty="0">
                <a:latin typeface="Copperplate Gothic Bold" panose="020E0705020206020404" pitchFamily="34" charset="77"/>
                <a:ea typeface="Helvetica Neue" panose="02000503000000020004" pitchFamily="2" charset="0"/>
                <a:cs typeface="Helvetica Neue" panose="02000503000000020004" pitchFamily="2" charset="0"/>
              </a:rPr>
              <a:t>Idea/Approach Details</a:t>
            </a:r>
          </a:p>
        </p:txBody>
      </p:sp>
      <p:sp>
        <p:nvSpPr>
          <p:cNvPr id="3" name="Google Shape;218;p2">
            <a:extLst>
              <a:ext uri="{FF2B5EF4-FFF2-40B4-BE49-F238E27FC236}">
                <a16:creationId xmlns:a16="http://schemas.microsoft.com/office/drawing/2014/main" id="{0BE815EC-CBE1-8542-9005-8D82E770C454}"/>
              </a:ext>
            </a:extLst>
          </p:cNvPr>
          <p:cNvSpPr txBox="1">
            <a:spLocks/>
          </p:cNvSpPr>
          <p:nvPr/>
        </p:nvSpPr>
        <p:spPr>
          <a:xfrm>
            <a:off x="961053" y="1968750"/>
            <a:ext cx="6034551" cy="4254768"/>
          </a:xfrm>
          <a:prstGeom prst="rect">
            <a:avLst/>
          </a:prstGeom>
          <a:noFill/>
          <a:ln w="9525" cap="flat" cmpd="sng">
            <a:solidFill>
              <a:schemeClr val="dk1"/>
            </a:solidFill>
            <a:prstDash val="solid"/>
            <a:round/>
            <a:headEnd type="none" w="sm" len="sm"/>
            <a:tailEnd type="none" w="sm" len="sm"/>
          </a:ln>
        </p:spPr>
        <p:txBody>
          <a:bodyPr spcFirstLastPara="1" vert="horz" wrap="square" lIns="0" tIns="0" rIns="0" bIns="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buClr>
                <a:schemeClr val="lt2"/>
              </a:buClr>
              <a:buSzPts val="1800"/>
            </a:pPr>
            <a:r>
              <a:rPr lang="en-US" sz="1800" dirty="0">
                <a:solidFill>
                  <a:schemeClr val="accent1"/>
                </a:solidFill>
                <a:latin typeface="Franklin Gothic"/>
                <a:ea typeface="Franklin Gothic"/>
                <a:cs typeface="Franklin Gothic"/>
                <a:sym typeface="Franklin Gothic"/>
              </a:rPr>
              <a:t>Describe your idea/Solution/Prototype here:</a:t>
            </a:r>
            <a:endParaRPr lang="en-US" dirty="0">
              <a:solidFill>
                <a:schemeClr val="accent1"/>
              </a:solidFill>
            </a:endParaRPr>
          </a:p>
          <a:p>
            <a:pPr marL="285750" indent="-285750" algn="just">
              <a:lnSpc>
                <a:spcPct val="100000"/>
              </a:lnSpc>
              <a:buClr>
                <a:schemeClr val="dk1"/>
              </a:buClr>
              <a:buSzPts val="1600"/>
              <a:buFont typeface="Noto Sans Symbols"/>
              <a:buChar char="⮚"/>
            </a:pPr>
            <a:r>
              <a:rPr lang="en-US" sz="1400" dirty="0">
                <a:latin typeface="Times New Roman" panose="02020603050405020304" pitchFamily="18" charset="0"/>
                <a:cs typeface="Times New Roman" panose="02020603050405020304" pitchFamily="18" charset="0"/>
              </a:rPr>
              <a:t>The smart medicine vending machine </a:t>
            </a:r>
            <a:r>
              <a:rPr lang="en-US" sz="1400">
                <a:latin typeface="Times New Roman" panose="02020603050405020304" pitchFamily="18" charset="0"/>
                <a:cs typeface="Times New Roman" panose="02020603050405020304" pitchFamily="18" charset="0"/>
              </a:rPr>
              <a:t>, “MEDIBOT” is </a:t>
            </a:r>
            <a:r>
              <a:rPr lang="en-US" sz="1400" dirty="0">
                <a:latin typeface="Times New Roman" panose="02020603050405020304" pitchFamily="18" charset="0"/>
                <a:cs typeface="Times New Roman" panose="02020603050405020304" pitchFamily="18" charset="0"/>
              </a:rPr>
              <a:t>designed and developed as a reliable yet affordable with portability features to help the needy people.</a:t>
            </a:r>
            <a:r>
              <a:rPr lang="en-IN" sz="1400" kern="100" dirty="0">
                <a:latin typeface="Times New Roman" panose="02020603050405020304" pitchFamily="18" charset="0"/>
                <a:ea typeface="Calibri" panose="020F0502020204030204" pitchFamily="34" charset="0"/>
                <a:cs typeface="Times New Roman" panose="02020603050405020304" pitchFamily="18" charset="0"/>
              </a:rPr>
              <a:t> </a:t>
            </a:r>
          </a:p>
          <a:p>
            <a:pPr marL="285750" indent="-285750" algn="just">
              <a:lnSpc>
                <a:spcPct val="100000"/>
              </a:lnSpc>
              <a:buClr>
                <a:schemeClr val="dk1"/>
              </a:buClr>
              <a:buSzPts val="1600"/>
              <a:buFont typeface="Noto Sans Symbols"/>
              <a:buChar char="⮚"/>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S</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mart medicine vending machine can track and monitor each dose taken by the user with maintained schedule time using Real Time Clock (RTC) module in the system. This information can be helpful for caregivers or healthcare providers to ensure medication adherence and identify any patterns or issues that may arise.</a:t>
            </a:r>
            <a:endParaRPr lang="en-US" sz="1400" dirty="0">
              <a:latin typeface="Times New Roman" panose="02020603050405020304" pitchFamily="18" charset="0"/>
              <a:cs typeface="Times New Roman" panose="02020603050405020304" pitchFamily="18" charset="0"/>
            </a:endParaRPr>
          </a:p>
          <a:p>
            <a:pPr marL="285750" indent="-285750" algn="just">
              <a:lnSpc>
                <a:spcPct val="100000"/>
              </a:lnSpc>
              <a:buClr>
                <a:schemeClr val="dk1"/>
              </a:buClr>
              <a:buSzPts val="1600"/>
              <a:buFont typeface="Noto Sans Symbols"/>
              <a:buChar char="⮚"/>
            </a:pPr>
            <a:r>
              <a:rPr lang="en-IN" sz="1400" dirty="0">
                <a:effectLst/>
                <a:latin typeface="Times New Roman" panose="02020603050405020304" pitchFamily="18" charset="0"/>
                <a:ea typeface="Calibri" panose="020F0502020204030204" pitchFamily="34" charset="0"/>
                <a:cs typeface="Times New Roman" panose="02020603050405020304" pitchFamily="18" charset="0"/>
              </a:rPr>
              <a:t>It should be able to store and dispense a wide variety of medications having different labelled compartments or shelves for organizing different medications</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t>
            </a:r>
          </a:p>
          <a:p>
            <a:pPr marL="285750" indent="-285750" algn="just">
              <a:lnSpc>
                <a:spcPct val="100000"/>
              </a:lnSpc>
              <a:buClr>
                <a:schemeClr val="dk1"/>
              </a:buClr>
              <a:buSzPts val="1600"/>
              <a:buFont typeface="Noto Sans Symbols"/>
              <a:buChar char="⮚"/>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Setting the time interval of doses in a smart medicine vending machine that can help users manage their medication schedules effectively.</a:t>
            </a:r>
          </a:p>
          <a:p>
            <a:pPr marL="285750" indent="-285750" algn="just">
              <a:lnSpc>
                <a:spcPct val="100000"/>
              </a:lnSpc>
              <a:buClr>
                <a:schemeClr val="dk1"/>
              </a:buClr>
              <a:buSzPts val="1600"/>
              <a:buFont typeface="Noto Sans Symbols"/>
              <a:buChar char="⮚"/>
            </a:pPr>
            <a:r>
              <a:rPr lang="en-IN" sz="1400" dirty="0">
                <a:effectLst/>
                <a:latin typeface="Times New Roman" panose="02020603050405020304" pitchFamily="18" charset="0"/>
                <a:ea typeface="Calibri" panose="020F0502020204030204" pitchFamily="34" charset="0"/>
              </a:rPr>
              <a:t>We Implement a reminder in the form of visual prompts on the machine's display, audio cues, or even SMS notifications to a designated caregiver or family member when it's time to take their medication.</a:t>
            </a:r>
          </a:p>
          <a:p>
            <a:pPr marL="285750" indent="-285750" algn="just">
              <a:lnSpc>
                <a:spcPct val="100000"/>
              </a:lnSpc>
              <a:buClr>
                <a:schemeClr val="dk1"/>
              </a:buClr>
              <a:buSzPts val="1600"/>
              <a:buFont typeface="Noto Sans Symbols"/>
              <a:buChar char="⮚"/>
            </a:pPr>
            <a:r>
              <a:rPr lang="en-US" sz="1400" dirty="0">
                <a:latin typeface="Times New Roman" panose="02020603050405020304" pitchFamily="18" charset="0"/>
                <a:cs typeface="Times New Roman" panose="02020603050405020304" pitchFamily="18" charset="0"/>
              </a:rPr>
              <a:t>It </a:t>
            </a:r>
            <a:r>
              <a:rPr lang="en-IN" sz="1400" dirty="0">
                <a:latin typeface="Times New Roman" panose="02020603050405020304" pitchFamily="18" charset="0"/>
                <a:ea typeface="Calibri" panose="020F0502020204030204" pitchFamily="34" charset="0"/>
                <a:cs typeface="Times New Roman" panose="02020603050405020304" pitchFamily="18" charset="0"/>
              </a:rPr>
              <a:t>p</a:t>
            </a:r>
            <a:r>
              <a:rPr lang="en-IN" sz="1400" dirty="0">
                <a:effectLst/>
                <a:latin typeface="Times New Roman" panose="02020603050405020304" pitchFamily="18" charset="0"/>
                <a:ea typeface="Calibri" panose="020F0502020204030204" pitchFamily="34" charset="0"/>
                <a:cs typeface="Times New Roman" panose="02020603050405020304" pitchFamily="18" charset="0"/>
              </a:rPr>
              <a:t>rovide clear, step-by-step instructions on how to operate the machine, including how to refill medications, troubleshoot common issues.</a:t>
            </a:r>
            <a:endParaRPr lang="en-US" sz="1400" dirty="0">
              <a:latin typeface="Times New Roman" panose="02020603050405020304" pitchFamily="18" charset="0"/>
              <a:cs typeface="Times New Roman" panose="02020603050405020304" pitchFamily="18" charset="0"/>
            </a:endParaRPr>
          </a:p>
          <a:p>
            <a:pPr marL="285750" indent="-184150" algn="just">
              <a:lnSpc>
                <a:spcPct val="100000"/>
              </a:lnSpc>
              <a:buClr>
                <a:schemeClr val="dk1"/>
              </a:buClr>
              <a:buSzPts val="1600"/>
              <a:buFont typeface="Noto Sans Symbols"/>
              <a:buNone/>
            </a:pPr>
            <a:endParaRPr lang="en-US" dirty="0"/>
          </a:p>
        </p:txBody>
      </p:sp>
      <p:sp>
        <p:nvSpPr>
          <p:cNvPr id="4" name="Google Shape;219;p2">
            <a:extLst>
              <a:ext uri="{FF2B5EF4-FFF2-40B4-BE49-F238E27FC236}">
                <a16:creationId xmlns:a16="http://schemas.microsoft.com/office/drawing/2014/main" id="{F24E7A1D-D19F-CC41-BB16-425C78BE56E6}"/>
              </a:ext>
            </a:extLst>
          </p:cNvPr>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a:t>2</a:t>
            </a:fld>
            <a:endParaRPr/>
          </a:p>
        </p:txBody>
      </p:sp>
      <p:sp>
        <p:nvSpPr>
          <p:cNvPr id="6" name="Google Shape;222;p2">
            <a:extLst>
              <a:ext uri="{FF2B5EF4-FFF2-40B4-BE49-F238E27FC236}">
                <a16:creationId xmlns:a16="http://schemas.microsoft.com/office/drawing/2014/main" id="{63792A2C-0968-904D-ADB4-9BF636EEBF1F}"/>
              </a:ext>
            </a:extLst>
          </p:cNvPr>
          <p:cNvSpPr txBox="1"/>
          <p:nvPr/>
        </p:nvSpPr>
        <p:spPr>
          <a:xfrm>
            <a:off x="7333861" y="1991981"/>
            <a:ext cx="4616716" cy="4082241"/>
          </a:xfrm>
          <a:prstGeom prst="rect">
            <a:avLst/>
          </a:prstGeom>
          <a:noFill/>
          <a:ln w="9525" cap="flat" cmpd="sng">
            <a:solidFill>
              <a:schemeClr val="tx1"/>
            </a:solidFill>
            <a:prstDash val="solid"/>
            <a:round/>
            <a:headEnd type="none" w="sm" len="sm"/>
            <a:tailEnd type="none" w="sm" len="sm"/>
          </a:ln>
        </p:spPr>
        <p:txBody>
          <a:bodyPr spcFirstLastPara="1" wrap="square" lIns="0" tIns="0" rIns="0" bIns="0" numCol="2" anchor="t" anchorCtr="0">
            <a:noAutofit/>
          </a:bodyPr>
          <a:lstStyle/>
          <a:p>
            <a:pPr marL="0" marR="0" lvl="0" indent="0" algn="l" rtl="0">
              <a:lnSpc>
                <a:spcPct val="100000"/>
              </a:lnSpc>
              <a:spcBef>
                <a:spcPts val="0"/>
              </a:spcBef>
              <a:spcAft>
                <a:spcPts val="0"/>
              </a:spcAft>
              <a:buClr>
                <a:schemeClr val="lt2"/>
              </a:buClr>
              <a:buSzPts val="1800"/>
              <a:buFont typeface="Arial"/>
              <a:buNone/>
            </a:pPr>
            <a:r>
              <a:rPr lang="en-US" sz="1800" b="0" i="0" dirty="0">
                <a:solidFill>
                  <a:schemeClr val="accent1"/>
                </a:solidFill>
                <a:latin typeface="Franklin Gothic"/>
                <a:ea typeface="Franklin Gothic"/>
                <a:cs typeface="Franklin Gothic"/>
                <a:sym typeface="Franklin Gothic"/>
              </a:rPr>
              <a:t>Describe your</a:t>
            </a:r>
          </a:p>
          <a:p>
            <a:pPr marL="0" marR="0" lvl="0" indent="0" algn="l" rtl="0">
              <a:lnSpc>
                <a:spcPct val="100000"/>
              </a:lnSpc>
              <a:spcBef>
                <a:spcPts val="0"/>
              </a:spcBef>
              <a:spcAft>
                <a:spcPts val="0"/>
              </a:spcAft>
              <a:buClr>
                <a:schemeClr val="lt2"/>
              </a:buClr>
              <a:buSzPts val="1800"/>
              <a:buFont typeface="Arial"/>
              <a:buNone/>
            </a:pPr>
            <a:r>
              <a:rPr lang="en-US" sz="1800" b="0" i="0" dirty="0">
                <a:solidFill>
                  <a:schemeClr val="accent1"/>
                </a:solidFill>
                <a:latin typeface="Franklin Gothic"/>
                <a:ea typeface="Franklin Gothic"/>
                <a:cs typeface="Franklin Gothic"/>
                <a:sym typeface="Franklin Gothic"/>
              </a:rPr>
              <a:t>Technology stack here</a:t>
            </a:r>
            <a:r>
              <a:rPr lang="en-US" sz="1600" b="0" i="0" dirty="0">
                <a:solidFill>
                  <a:schemeClr val="accent1"/>
                </a:solidFill>
                <a:latin typeface="Libre Franklin"/>
                <a:ea typeface="Libre Franklin"/>
                <a:cs typeface="Libre Franklin"/>
                <a:sym typeface="Libre Franklin"/>
              </a:rPr>
              <a:t>:</a:t>
            </a:r>
            <a:endParaRPr sz="1400" b="1" dirty="0">
              <a:solidFill>
                <a:schemeClr val="accent1"/>
              </a:solidFill>
            </a:endParaRPr>
          </a:p>
          <a:p>
            <a:pPr marL="285750" marR="0" lvl="0" indent="-285750" algn="l" rtl="0">
              <a:lnSpc>
                <a:spcPct val="100000"/>
              </a:lnSpc>
              <a:spcBef>
                <a:spcPts val="1000"/>
              </a:spcBef>
              <a:spcAft>
                <a:spcPts val="0"/>
              </a:spcAft>
              <a:buClr>
                <a:schemeClr val="dk1"/>
              </a:buClr>
              <a:buSzPts val="1600"/>
              <a:buFont typeface="Noto Sans Symbols"/>
              <a:buChar char="⮚"/>
            </a:pPr>
            <a:r>
              <a:rPr lang="en-US" sz="1400" b="1" i="0" dirty="0">
                <a:solidFill>
                  <a:schemeClr val="dk1"/>
                </a:solidFill>
                <a:ea typeface="Libre Franklin"/>
                <a:cs typeface="Libre Franklin"/>
                <a:sym typeface="Libre Franklin"/>
              </a:rPr>
              <a:t> HARDWARE : </a:t>
            </a:r>
          </a:p>
          <a:p>
            <a:pPr marL="285750" indent="-285750">
              <a:spcBef>
                <a:spcPts val="1000"/>
              </a:spcBef>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 Microcontroller (Arduino NANO &amp; Node MCU)</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Servo &amp; DC Motor with motor driver</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RTC Module</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LCD Display</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Input keypad</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Speaker &amp; Buzzer</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GSM Module</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Cellular Phone</a:t>
            </a:r>
          </a:p>
          <a:p>
            <a:pPr marR="0" lvl="0" algn="l" rtl="0">
              <a:lnSpc>
                <a:spcPct val="100000"/>
              </a:lnSpc>
              <a:spcBef>
                <a:spcPts val="1000"/>
              </a:spcBef>
              <a:spcAft>
                <a:spcPts val="0"/>
              </a:spcAft>
              <a:buClr>
                <a:schemeClr val="dk1"/>
              </a:buClr>
              <a:buSzPts val="1600"/>
            </a:pPr>
            <a:endParaRPr lang="en-US" sz="1400" dirty="0">
              <a:solidFill>
                <a:schemeClr val="dk1"/>
              </a:solidFill>
              <a:sym typeface="Libre Franklin"/>
            </a:endParaRPr>
          </a:p>
          <a:p>
            <a:pPr marR="0" lvl="0" algn="l" rtl="0">
              <a:lnSpc>
                <a:spcPct val="100000"/>
              </a:lnSpc>
              <a:spcBef>
                <a:spcPts val="1000"/>
              </a:spcBef>
              <a:spcAft>
                <a:spcPts val="0"/>
              </a:spcAft>
              <a:buClr>
                <a:schemeClr val="dk1"/>
              </a:buClr>
              <a:buSzPts val="1600"/>
            </a:pPr>
            <a:endParaRPr lang="en-US" sz="1400" dirty="0">
              <a:solidFill>
                <a:schemeClr val="dk1"/>
              </a:solidFill>
              <a:sym typeface="Libre Franklin"/>
            </a:endParaRPr>
          </a:p>
          <a:p>
            <a:pPr marR="0" lvl="0" algn="l" rtl="0">
              <a:lnSpc>
                <a:spcPct val="100000"/>
              </a:lnSpc>
              <a:spcBef>
                <a:spcPts val="1000"/>
              </a:spcBef>
              <a:spcAft>
                <a:spcPts val="0"/>
              </a:spcAft>
              <a:buClr>
                <a:schemeClr val="dk1"/>
              </a:buClr>
              <a:buSzPts val="1600"/>
            </a:pPr>
            <a:endParaRPr lang="en-US" sz="1400" dirty="0">
              <a:solidFill>
                <a:schemeClr val="dk1"/>
              </a:solidFill>
              <a:sym typeface="Libre Franklin"/>
            </a:endParaRP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endParaRPr lang="en-US" sz="1400" dirty="0">
              <a:solidFill>
                <a:schemeClr val="dk1"/>
              </a:solidFill>
              <a:sym typeface="Libre Franklin"/>
            </a:endParaRPr>
          </a:p>
          <a:p>
            <a:pPr marR="0" lvl="0" algn="l" rtl="0">
              <a:lnSpc>
                <a:spcPct val="100000"/>
              </a:lnSpc>
              <a:spcBef>
                <a:spcPts val="1000"/>
              </a:spcBef>
              <a:spcAft>
                <a:spcPts val="0"/>
              </a:spcAft>
              <a:buClr>
                <a:schemeClr val="dk1"/>
              </a:buClr>
              <a:buSzPts val="1600"/>
            </a:pPr>
            <a:endParaRPr lang="en-US" sz="1400" dirty="0">
              <a:solidFill>
                <a:schemeClr val="dk1"/>
              </a:solidFill>
              <a:sym typeface="Libre Franklin"/>
            </a:endParaRP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Ø"/>
            </a:pPr>
            <a:r>
              <a:rPr lang="en-US" sz="1400" b="1" dirty="0">
                <a:solidFill>
                  <a:schemeClr val="dk1"/>
                </a:solidFill>
                <a:sym typeface="Libre Franklin"/>
              </a:rPr>
              <a:t>SOFTWARE:</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Arduino IDE</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Proteus</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Message system</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r>
              <a:rPr lang="en-US" sz="1400" dirty="0">
                <a:solidFill>
                  <a:schemeClr val="dk1"/>
                </a:solidFill>
                <a:latin typeface="Times New Roman" panose="02020603050405020304" pitchFamily="18" charset="0"/>
                <a:cs typeface="Times New Roman" panose="02020603050405020304" pitchFamily="18" charset="0"/>
                <a:sym typeface="Libre Franklin"/>
              </a:rPr>
              <a:t>IoT based mobile app</a:t>
            </a: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endParaRPr lang="en-US" sz="1400" dirty="0">
              <a:solidFill>
                <a:schemeClr val="dk1"/>
              </a:solidFill>
              <a:latin typeface="Times New Roman" panose="02020603050405020304" pitchFamily="18" charset="0"/>
              <a:cs typeface="Times New Roman" panose="02020603050405020304" pitchFamily="18" charset="0"/>
              <a:sym typeface="Libre Franklin"/>
            </a:endParaRP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endParaRPr lang="en-US" sz="1400" dirty="0">
              <a:solidFill>
                <a:schemeClr val="dk1"/>
              </a:solidFill>
              <a:sym typeface="Libre Franklin"/>
            </a:endParaRPr>
          </a:p>
          <a:p>
            <a:pPr marR="0" lvl="0" algn="l" rtl="0">
              <a:lnSpc>
                <a:spcPct val="100000"/>
              </a:lnSpc>
              <a:spcBef>
                <a:spcPts val="1000"/>
              </a:spcBef>
              <a:spcAft>
                <a:spcPts val="0"/>
              </a:spcAft>
              <a:buClr>
                <a:schemeClr val="dk1"/>
              </a:buClr>
              <a:buSzPts val="1600"/>
            </a:pPr>
            <a:endParaRPr lang="en-US" sz="1400" dirty="0">
              <a:solidFill>
                <a:schemeClr val="dk1"/>
              </a:solidFill>
              <a:sym typeface="Libre Franklin"/>
            </a:endParaRP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endParaRPr lang="en-US" sz="1400" dirty="0">
              <a:solidFill>
                <a:schemeClr val="dk1"/>
              </a:solidFill>
              <a:sym typeface="Libre Franklin"/>
            </a:endParaRP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endParaRPr lang="en-US" sz="1400" dirty="0">
              <a:solidFill>
                <a:schemeClr val="dk1"/>
              </a:solidFill>
              <a:sym typeface="Libre Franklin"/>
            </a:endParaRP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endParaRPr lang="en-US" sz="1400" dirty="0">
              <a:solidFill>
                <a:schemeClr val="dk1"/>
              </a:solidFill>
              <a:sym typeface="Libre Franklin"/>
            </a:endParaRP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endParaRPr lang="en-US" sz="1400" dirty="0">
              <a:solidFill>
                <a:schemeClr val="dk1"/>
              </a:solidFill>
              <a:sym typeface="Libre Franklin"/>
            </a:endParaRPr>
          </a:p>
          <a:p>
            <a:pPr marL="285750" marR="0" lvl="0" indent="-285750" algn="l" rtl="0">
              <a:lnSpc>
                <a:spcPct val="100000"/>
              </a:lnSpc>
              <a:spcBef>
                <a:spcPts val="1000"/>
              </a:spcBef>
              <a:spcAft>
                <a:spcPts val="0"/>
              </a:spcAft>
              <a:buClr>
                <a:schemeClr val="dk1"/>
              </a:buClr>
              <a:buSzPts val="1600"/>
              <a:buFont typeface="Wingdings" panose="05000000000000000000" pitchFamily="2" charset="2"/>
              <a:buChar char="§"/>
            </a:pPr>
            <a:endParaRPr lang="en-US" sz="1400" dirty="0">
              <a:solidFill>
                <a:schemeClr val="dk1"/>
              </a:solidFill>
              <a:sym typeface="Libre Franklin"/>
            </a:endParaRPr>
          </a:p>
          <a:p>
            <a:pPr marR="0" lvl="0" algn="l" rtl="0">
              <a:lnSpc>
                <a:spcPct val="100000"/>
              </a:lnSpc>
              <a:spcBef>
                <a:spcPts val="1000"/>
              </a:spcBef>
              <a:spcAft>
                <a:spcPts val="0"/>
              </a:spcAft>
              <a:buClr>
                <a:schemeClr val="dk1"/>
              </a:buClr>
              <a:buSzPts val="1600"/>
            </a:pPr>
            <a:endParaRPr lang="en-US" sz="1400" dirty="0">
              <a:solidFill>
                <a:schemeClr val="dk1"/>
              </a:solidFill>
              <a:sym typeface="Libre Franklin"/>
            </a:endParaRPr>
          </a:p>
          <a:p>
            <a:pPr marR="0" lvl="0" algn="l" rtl="0">
              <a:lnSpc>
                <a:spcPct val="100000"/>
              </a:lnSpc>
              <a:spcBef>
                <a:spcPts val="1000"/>
              </a:spcBef>
              <a:spcAft>
                <a:spcPts val="0"/>
              </a:spcAft>
              <a:buClr>
                <a:schemeClr val="dk1"/>
              </a:buClr>
              <a:buSzPts val="1600"/>
            </a:pPr>
            <a:r>
              <a:rPr lang="en-US" sz="1400" b="1" dirty="0">
                <a:solidFill>
                  <a:schemeClr val="dk1"/>
                </a:solidFill>
                <a:sym typeface="Libre Franklin"/>
              </a:rPr>
              <a:t>	</a:t>
            </a:r>
          </a:p>
          <a:p>
            <a:pPr marR="0" lvl="0" algn="l" rtl="0">
              <a:lnSpc>
                <a:spcPct val="100000"/>
              </a:lnSpc>
              <a:spcBef>
                <a:spcPts val="1000"/>
              </a:spcBef>
              <a:spcAft>
                <a:spcPts val="0"/>
              </a:spcAft>
              <a:buClr>
                <a:schemeClr val="dk1"/>
              </a:buClr>
              <a:buSzPts val="1600"/>
            </a:pPr>
            <a:endParaRPr sz="1400" b="1" dirty="0"/>
          </a:p>
          <a:p>
            <a:pPr marL="0" marR="0" lvl="0" indent="0" algn="l" rtl="0">
              <a:lnSpc>
                <a:spcPct val="100000"/>
              </a:lnSpc>
              <a:spcBef>
                <a:spcPts val="1000"/>
              </a:spcBef>
              <a:spcAft>
                <a:spcPts val="0"/>
              </a:spcAft>
              <a:buClr>
                <a:schemeClr val="dk1"/>
              </a:buClr>
              <a:buSzPts val="1600"/>
              <a:buFont typeface="Arial"/>
              <a:buNone/>
            </a:pPr>
            <a:endParaRPr sz="1600" b="0" i="0" dirty="0">
              <a:solidFill>
                <a:schemeClr val="dk1"/>
              </a:solidFill>
              <a:latin typeface="Libre Franklin"/>
              <a:ea typeface="Libre Franklin"/>
              <a:cs typeface="Libre Franklin"/>
              <a:sym typeface="Libre Franklin"/>
            </a:endParaRPr>
          </a:p>
        </p:txBody>
      </p:sp>
    </p:spTree>
    <p:extLst>
      <p:ext uri="{BB962C8B-B14F-4D97-AF65-F5344CB8AC3E}">
        <p14:creationId xmlns:p14="http://schemas.microsoft.com/office/powerpoint/2010/main" val="1139711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Google Shape;217;p2">
            <a:extLst>
              <a:ext uri="{FF2B5EF4-FFF2-40B4-BE49-F238E27FC236}">
                <a16:creationId xmlns:a16="http://schemas.microsoft.com/office/drawing/2014/main" id="{FC673FEC-3705-984B-B0E2-497899EC3F10}"/>
              </a:ext>
            </a:extLst>
          </p:cNvPr>
          <p:cNvSpPr txBox="1">
            <a:spLocks/>
          </p:cNvSpPr>
          <p:nvPr/>
        </p:nvSpPr>
        <p:spPr>
          <a:xfrm>
            <a:off x="3094653" y="440987"/>
            <a:ext cx="6002694" cy="669356"/>
          </a:xfrm>
          <a:prstGeom prst="rect">
            <a:avLst/>
          </a:prstGeom>
          <a:noFill/>
          <a:ln>
            <a:solidFill>
              <a:schemeClr val="bg1"/>
            </a:solidFill>
          </a:ln>
        </p:spPr>
        <p:txBody>
          <a:bodyPr spcFirstLastPara="1" vert="horz" wrap="square" lIns="0" tIns="0" rIns="0" bIns="0" rtlCol="0" anchor="b" anchorCtr="0">
            <a:normAutofit fontScale="5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dk1"/>
              </a:buClr>
              <a:buSzPct val="100000"/>
              <a:buFont typeface="Franklin Gothic"/>
              <a:buNone/>
            </a:pPr>
            <a:r>
              <a:rPr lang="en-US" dirty="0">
                <a:latin typeface="Copperplate Gothic Bold" panose="020E0705020206020404" pitchFamily="34" charset="77"/>
                <a:ea typeface="Helvetica Neue" panose="02000503000000020004" pitchFamily="2" charset="0"/>
                <a:cs typeface="Helvetica Neue" panose="02000503000000020004" pitchFamily="2" charset="0"/>
              </a:rPr>
              <a:t>Idea/Approach Details</a:t>
            </a:r>
          </a:p>
        </p:txBody>
      </p:sp>
      <p:sp>
        <p:nvSpPr>
          <p:cNvPr id="9" name="Google Shape;221;p2">
            <a:extLst>
              <a:ext uri="{FF2B5EF4-FFF2-40B4-BE49-F238E27FC236}">
                <a16:creationId xmlns:a16="http://schemas.microsoft.com/office/drawing/2014/main" id="{ED876C65-930F-BDDF-1DBC-DF02521ED6DC}"/>
              </a:ext>
            </a:extLst>
          </p:cNvPr>
          <p:cNvSpPr txBox="1"/>
          <p:nvPr/>
        </p:nvSpPr>
        <p:spPr>
          <a:xfrm>
            <a:off x="1910833" y="1204516"/>
            <a:ext cx="9444520" cy="369291"/>
          </a:xfrm>
          <a:prstGeom prst="rect">
            <a:avLst/>
          </a:prstGeom>
          <a:noFill/>
          <a:ln>
            <a:solidFill>
              <a:schemeClr val="tx1"/>
            </a:solid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accent1"/>
                </a:solidFill>
                <a:latin typeface="Franklin Gothic"/>
                <a:ea typeface="Franklin Gothic"/>
                <a:cs typeface="Franklin Gothic"/>
                <a:sym typeface="Franklin Gothic"/>
              </a:rPr>
              <a:t>Add process flow chart or simulated image of prototype or any relevant image related to your idea</a:t>
            </a:r>
            <a:endParaRPr dirty="0">
              <a:solidFill>
                <a:schemeClr val="accent1"/>
              </a:solidFill>
            </a:endParaRPr>
          </a:p>
        </p:txBody>
      </p:sp>
      <p:sp>
        <p:nvSpPr>
          <p:cNvPr id="13" name="TextBox 12">
            <a:extLst>
              <a:ext uri="{FF2B5EF4-FFF2-40B4-BE49-F238E27FC236}">
                <a16:creationId xmlns:a16="http://schemas.microsoft.com/office/drawing/2014/main" id="{12DD761A-F388-1B41-CFFA-667C3FA75F24}"/>
              </a:ext>
            </a:extLst>
          </p:cNvPr>
          <p:cNvSpPr txBox="1"/>
          <p:nvPr/>
        </p:nvSpPr>
        <p:spPr>
          <a:xfrm>
            <a:off x="8238930" y="6298163"/>
            <a:ext cx="2752532" cy="369332"/>
          </a:xfrm>
          <a:prstGeom prst="rect">
            <a:avLst/>
          </a:prstGeom>
          <a:noFill/>
          <a:ln w="12700">
            <a:solidFill>
              <a:schemeClr val="tx1"/>
            </a:solidFill>
          </a:ln>
        </p:spPr>
        <p:txBody>
          <a:bodyPr wrap="square" rtlCol="0">
            <a:spAutoFit/>
          </a:bodyPr>
          <a:lstStyle/>
          <a:p>
            <a:r>
              <a:rPr lang="en-IN" dirty="0">
                <a:latin typeface="Times New Roman" panose="02020603050405020304" pitchFamily="18" charset="0"/>
                <a:cs typeface="Times New Roman" panose="02020603050405020304" pitchFamily="18" charset="0"/>
              </a:rPr>
              <a:t>SCHEMATIC DIAGRAM</a:t>
            </a:r>
          </a:p>
        </p:txBody>
      </p:sp>
      <p:pic>
        <p:nvPicPr>
          <p:cNvPr id="5" name="Picture 4">
            <a:extLst>
              <a:ext uri="{FF2B5EF4-FFF2-40B4-BE49-F238E27FC236}">
                <a16:creationId xmlns:a16="http://schemas.microsoft.com/office/drawing/2014/main" id="{EAE64434-5572-E991-2A16-D56691DBBA21}"/>
              </a:ext>
            </a:extLst>
          </p:cNvPr>
          <p:cNvPicPr>
            <a:picLocks noChangeAspect="1"/>
          </p:cNvPicPr>
          <p:nvPr/>
        </p:nvPicPr>
        <p:blipFill rotWithShape="1">
          <a:blip r:embed="rId3"/>
          <a:srcRect l="4056" t="436" r="-391" b="319"/>
          <a:stretch/>
        </p:blipFill>
        <p:spPr>
          <a:xfrm>
            <a:off x="597163" y="1667980"/>
            <a:ext cx="6064898" cy="4434240"/>
          </a:xfrm>
          <a:prstGeom prst="rect">
            <a:avLst/>
          </a:prstGeom>
          <a:ln w="12700">
            <a:solidFill>
              <a:schemeClr val="tx1"/>
            </a:solidFill>
          </a:ln>
        </p:spPr>
      </p:pic>
      <p:pic>
        <p:nvPicPr>
          <p:cNvPr id="6" name="Picture 5">
            <a:extLst>
              <a:ext uri="{FF2B5EF4-FFF2-40B4-BE49-F238E27FC236}">
                <a16:creationId xmlns:a16="http://schemas.microsoft.com/office/drawing/2014/main" id="{A1429FDF-01DF-FC16-42B9-94E25170080F}"/>
              </a:ext>
            </a:extLst>
          </p:cNvPr>
          <p:cNvPicPr>
            <a:picLocks noChangeAspect="1"/>
          </p:cNvPicPr>
          <p:nvPr/>
        </p:nvPicPr>
        <p:blipFill>
          <a:blip r:embed="rId4"/>
          <a:stretch>
            <a:fillRect/>
          </a:stretch>
        </p:blipFill>
        <p:spPr>
          <a:xfrm>
            <a:off x="6783778" y="2417002"/>
            <a:ext cx="5299367" cy="3685223"/>
          </a:xfrm>
          <a:prstGeom prst="rect">
            <a:avLst/>
          </a:prstGeom>
          <a:ln w="12700">
            <a:solidFill>
              <a:schemeClr val="tx1"/>
            </a:solidFill>
          </a:ln>
        </p:spPr>
      </p:pic>
      <p:sp>
        <p:nvSpPr>
          <p:cNvPr id="7" name="TextBox 6">
            <a:extLst>
              <a:ext uri="{FF2B5EF4-FFF2-40B4-BE49-F238E27FC236}">
                <a16:creationId xmlns:a16="http://schemas.microsoft.com/office/drawing/2014/main" id="{B28B96EE-0F90-78A8-E3BB-8A1F124EF954}"/>
              </a:ext>
            </a:extLst>
          </p:cNvPr>
          <p:cNvSpPr txBox="1"/>
          <p:nvPr/>
        </p:nvSpPr>
        <p:spPr>
          <a:xfrm>
            <a:off x="2892486" y="6298163"/>
            <a:ext cx="1651518" cy="369332"/>
          </a:xfrm>
          <a:prstGeom prst="rect">
            <a:avLst/>
          </a:prstGeom>
          <a:noFill/>
          <a:ln w="12700">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FLOW CHART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938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Google Shape;217;p2">
            <a:extLst>
              <a:ext uri="{FF2B5EF4-FFF2-40B4-BE49-F238E27FC236}">
                <a16:creationId xmlns:a16="http://schemas.microsoft.com/office/drawing/2014/main" id="{006FAAE3-42D5-5249-96CB-79C9450433F7}"/>
              </a:ext>
            </a:extLst>
          </p:cNvPr>
          <p:cNvSpPr txBox="1">
            <a:spLocks/>
          </p:cNvSpPr>
          <p:nvPr/>
        </p:nvSpPr>
        <p:spPr>
          <a:xfrm>
            <a:off x="3083973" y="427383"/>
            <a:ext cx="6024054" cy="696564"/>
          </a:xfrm>
          <a:prstGeom prst="rect">
            <a:avLst/>
          </a:prstGeom>
          <a:noFill/>
          <a:ln>
            <a:solidFill>
              <a:schemeClr val="bg1"/>
            </a:solidFill>
          </a:ln>
        </p:spPr>
        <p:txBody>
          <a:bodyPr spcFirstLastPara="1" vert="horz" wrap="square" lIns="0" tIns="0" rIns="0" bIns="0" rtlCol="0" anchor="b" anchorCtr="0">
            <a:normAutofit fontScale="6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chemeClr val="dk1"/>
              </a:buClr>
              <a:buSzPct val="100000"/>
              <a:buFont typeface="Franklin Gothic"/>
              <a:buNone/>
            </a:pPr>
            <a:r>
              <a:rPr lang="en-US" dirty="0">
                <a:latin typeface="Copperplate Gothic Bold" panose="020E0705020206020404" pitchFamily="34" charset="77"/>
                <a:ea typeface="Helvetica Neue" panose="02000503000000020004" pitchFamily="2" charset="0"/>
                <a:cs typeface="Helvetica Neue" panose="02000503000000020004" pitchFamily="2" charset="0"/>
              </a:rPr>
              <a:t>Idea/Approach Details</a:t>
            </a:r>
          </a:p>
        </p:txBody>
      </p:sp>
      <p:sp>
        <p:nvSpPr>
          <p:cNvPr id="3" name="Google Shape;229;p3">
            <a:extLst>
              <a:ext uri="{FF2B5EF4-FFF2-40B4-BE49-F238E27FC236}">
                <a16:creationId xmlns:a16="http://schemas.microsoft.com/office/drawing/2014/main" id="{96568A74-68FC-2C44-8EB8-0C98A19BE209}"/>
              </a:ext>
            </a:extLst>
          </p:cNvPr>
          <p:cNvSpPr txBox="1">
            <a:spLocks/>
          </p:cNvSpPr>
          <p:nvPr/>
        </p:nvSpPr>
        <p:spPr>
          <a:xfrm>
            <a:off x="952499" y="2000920"/>
            <a:ext cx="4838701" cy="3922968"/>
          </a:xfrm>
          <a:prstGeom prst="rect">
            <a:avLst/>
          </a:prstGeom>
          <a:noFill/>
          <a:ln w="9525" cap="flat" cmpd="sng">
            <a:solidFill>
              <a:schemeClr val="dk1"/>
            </a:solidFill>
            <a:prstDash val="solid"/>
            <a:round/>
            <a:headEnd type="none" w="sm" len="sm"/>
            <a:tailEnd type="none" w="sm" len="sm"/>
          </a:ln>
        </p:spPr>
        <p:txBody>
          <a:bodyPr spcFirstLastPara="1" vert="horz" wrap="square" lIns="91425" tIns="45700" rIns="91425" bIns="4570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spcBef>
                <a:spcPts val="0"/>
              </a:spcBef>
              <a:buClr>
                <a:schemeClr val="dk1"/>
              </a:buClr>
              <a:buSzPts val="1600"/>
              <a:buFont typeface="Noto Sans Symbols"/>
              <a:buChar char="⮚"/>
            </a:pPr>
            <a:r>
              <a:rPr lang="en-US" sz="1400" dirty="0">
                <a:latin typeface="Times New Roman" panose="02020603050405020304" pitchFamily="18" charset="0"/>
                <a:cs typeface="Times New Roman" panose="02020603050405020304" pitchFamily="18" charset="0"/>
              </a:rPr>
              <a:t>Smart medicine vending system can be highly useful for selecting medicines at a certain times for elderly people when it comes to managing medication and promoting medication adherence.</a:t>
            </a:r>
          </a:p>
          <a:p>
            <a:pPr algn="just">
              <a:spcBef>
                <a:spcPts val="0"/>
              </a:spcBef>
              <a:buClr>
                <a:schemeClr val="dk1"/>
              </a:buClr>
              <a:buSzPts val="1600"/>
            </a:pPr>
            <a:endParaRPr lang="en-US" sz="1400" dirty="0">
              <a:latin typeface="Times New Roman" panose="02020603050405020304" pitchFamily="18" charset="0"/>
              <a:cs typeface="Times New Roman" panose="02020603050405020304" pitchFamily="18" charset="0"/>
            </a:endParaRPr>
          </a:p>
          <a:p>
            <a:pPr marL="285750" indent="-285750" algn="just">
              <a:spcBef>
                <a:spcPts val="0"/>
              </a:spcBef>
              <a:buClr>
                <a:schemeClr val="dk1"/>
              </a:buClr>
              <a:buSzPts val="1600"/>
              <a:buFont typeface="Noto Sans Symbols"/>
              <a:buChar char="⮚"/>
            </a:pPr>
            <a:r>
              <a:rPr lang="en-US" sz="1400" dirty="0">
                <a:latin typeface="Times New Roman" panose="02020603050405020304" pitchFamily="18" charset="0"/>
                <a:cs typeface="Times New Roman" panose="02020603050405020304" pitchFamily="18" charset="0"/>
              </a:rPr>
              <a:t>People with dementia can potentially benefit from using a smart medicine vending machine to help manage their medication as dementia can cause memory loss and difficulties in following complex routines including taking medications as prescribed.</a:t>
            </a:r>
          </a:p>
          <a:p>
            <a:pPr marL="285750" indent="-285750" algn="just">
              <a:spcBef>
                <a:spcPts val="0"/>
              </a:spcBef>
              <a:buClr>
                <a:schemeClr val="dk1"/>
              </a:buClr>
              <a:buSzPts val="1600"/>
              <a:buFont typeface="Noto Sans Symbols"/>
              <a:buChar char="⮚"/>
            </a:pPr>
            <a:endParaRPr lang="en-US" sz="1400" dirty="0">
              <a:latin typeface="Times New Roman" panose="02020603050405020304" pitchFamily="18" charset="0"/>
              <a:cs typeface="Times New Roman" panose="02020603050405020304" pitchFamily="18" charset="0"/>
            </a:endParaRPr>
          </a:p>
          <a:p>
            <a:pPr marL="285750" indent="-285750" algn="just">
              <a:spcBef>
                <a:spcPts val="0"/>
              </a:spcBef>
              <a:buClr>
                <a:schemeClr val="dk1"/>
              </a:buClr>
              <a:buSzPts val="1600"/>
              <a:buFont typeface="Noto Sans Symbols"/>
              <a:buChar char="⮚"/>
            </a:pPr>
            <a:r>
              <a:rPr lang="en-US" sz="1400" dirty="0">
                <a:latin typeface="Times New Roman" panose="02020603050405020304" pitchFamily="18" charset="0"/>
                <a:cs typeface="Times New Roman" panose="02020603050405020304" pitchFamily="18" charset="0"/>
              </a:rPr>
              <a:t>A smart medicine vending machine designed specifically for paralyzed individuals can be a valuable and convenient solution to help them manage their medication needs effectively.</a:t>
            </a:r>
          </a:p>
          <a:p>
            <a:pPr marL="285750" indent="-285750" algn="just">
              <a:spcBef>
                <a:spcPts val="0"/>
              </a:spcBef>
              <a:buClr>
                <a:schemeClr val="dk1"/>
              </a:buClr>
              <a:buSzPts val="1600"/>
              <a:buFont typeface="Noto Sans Symbols"/>
              <a:buChar char="⮚"/>
            </a:pPr>
            <a:endParaRPr lang="en-US" sz="1400" dirty="0">
              <a:latin typeface="Times New Roman" panose="02020603050405020304" pitchFamily="18" charset="0"/>
              <a:cs typeface="Times New Roman" panose="02020603050405020304" pitchFamily="18" charset="0"/>
            </a:endParaRPr>
          </a:p>
          <a:p>
            <a:pPr marL="285750" indent="-285750" algn="just">
              <a:spcBef>
                <a:spcPts val="0"/>
              </a:spcBef>
              <a:buClr>
                <a:schemeClr val="dk1"/>
              </a:buClr>
              <a:buSzPts val="1600"/>
              <a:buFont typeface="Noto Sans Symbols"/>
              <a:buChar char="⮚"/>
            </a:pPr>
            <a:r>
              <a:rPr lang="en-US" sz="1400" dirty="0">
                <a:latin typeface="Times New Roman" panose="02020603050405020304" pitchFamily="18" charset="0"/>
                <a:cs typeface="Times New Roman" panose="02020603050405020304" pitchFamily="18" charset="0"/>
              </a:rPr>
              <a:t>A smart medicine vending machine for missed dose cases is a novel concept that could help patients adhere to their medication schedules and reduce the risk of missing doses. </a:t>
            </a:r>
          </a:p>
        </p:txBody>
      </p:sp>
      <p:sp>
        <p:nvSpPr>
          <p:cNvPr id="4" name="Google Shape;228;p3">
            <a:extLst>
              <a:ext uri="{FF2B5EF4-FFF2-40B4-BE49-F238E27FC236}">
                <a16:creationId xmlns:a16="http://schemas.microsoft.com/office/drawing/2014/main" id="{80D50680-DF24-C64F-9EE5-EB4908E400F3}"/>
              </a:ext>
            </a:extLst>
          </p:cNvPr>
          <p:cNvSpPr txBox="1">
            <a:spLocks/>
          </p:cNvSpPr>
          <p:nvPr/>
        </p:nvSpPr>
        <p:spPr>
          <a:xfrm>
            <a:off x="952500" y="1630017"/>
            <a:ext cx="4838700" cy="31591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Clr>
                <a:schemeClr val="lt2"/>
              </a:buClr>
              <a:buSzPts val="1800"/>
              <a:buFont typeface="Arial" panose="020B0604020202020204" pitchFamily="34" charset="0"/>
              <a:buNone/>
            </a:pPr>
            <a:r>
              <a:rPr lang="en-US" sz="1800" dirty="0">
                <a:solidFill>
                  <a:schemeClr val="accent1"/>
                </a:solidFill>
              </a:rPr>
              <a:t>Describe your Use Cases here</a:t>
            </a:r>
            <a:endParaRPr lang="en-US" dirty="0">
              <a:solidFill>
                <a:schemeClr val="accent1"/>
              </a:solidFill>
            </a:endParaRPr>
          </a:p>
        </p:txBody>
      </p:sp>
      <p:sp>
        <p:nvSpPr>
          <p:cNvPr id="5" name="Google Shape;230;p3">
            <a:extLst>
              <a:ext uri="{FF2B5EF4-FFF2-40B4-BE49-F238E27FC236}">
                <a16:creationId xmlns:a16="http://schemas.microsoft.com/office/drawing/2014/main" id="{C9248A3D-93F2-8A4F-8EFD-F44B641641AE}"/>
              </a:ext>
            </a:extLst>
          </p:cNvPr>
          <p:cNvSpPr txBox="1">
            <a:spLocks noGrp="1"/>
          </p:cNvSpPr>
          <p:nvPr>
            <p:ph type="sldNum" idx="12"/>
          </p:nvPr>
        </p:nvSpPr>
        <p:spPr>
          <a:xfrm>
            <a:off x="971550" y="5676237"/>
            <a:ext cx="523240" cy="24765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a:t>4</a:t>
            </a:fld>
            <a:endParaRPr/>
          </a:p>
        </p:txBody>
      </p:sp>
      <p:sp>
        <p:nvSpPr>
          <p:cNvPr id="6" name="Google Shape;231;p3">
            <a:extLst>
              <a:ext uri="{FF2B5EF4-FFF2-40B4-BE49-F238E27FC236}">
                <a16:creationId xmlns:a16="http://schemas.microsoft.com/office/drawing/2014/main" id="{6FB90383-22FF-A440-A94B-927FF0AE18F8}"/>
              </a:ext>
            </a:extLst>
          </p:cNvPr>
          <p:cNvSpPr txBox="1"/>
          <p:nvPr/>
        </p:nvSpPr>
        <p:spPr>
          <a:xfrm>
            <a:off x="6096000" y="1630017"/>
            <a:ext cx="5143500" cy="315915"/>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lt2"/>
              </a:buClr>
              <a:buSzPts val="1800"/>
              <a:buFont typeface="Arial"/>
              <a:buNone/>
            </a:pPr>
            <a:r>
              <a:rPr lang="en-US" sz="1800" b="0" i="0" dirty="0">
                <a:solidFill>
                  <a:schemeClr val="accent1"/>
                </a:solidFill>
                <a:latin typeface="Franklin Gothic"/>
                <a:ea typeface="Franklin Gothic"/>
                <a:cs typeface="Franklin Gothic"/>
                <a:sym typeface="Franklin Gothic"/>
              </a:rPr>
              <a:t>Describe your Dependencies / Show stopper here</a:t>
            </a:r>
            <a:endParaRPr dirty="0">
              <a:solidFill>
                <a:schemeClr val="accent1"/>
              </a:solidFill>
            </a:endParaRPr>
          </a:p>
        </p:txBody>
      </p:sp>
      <p:sp>
        <p:nvSpPr>
          <p:cNvPr id="7" name="Google Shape;232;p3">
            <a:extLst>
              <a:ext uri="{FF2B5EF4-FFF2-40B4-BE49-F238E27FC236}">
                <a16:creationId xmlns:a16="http://schemas.microsoft.com/office/drawing/2014/main" id="{5983063C-C2AD-3041-B1D9-0DA10D3684CA}"/>
              </a:ext>
            </a:extLst>
          </p:cNvPr>
          <p:cNvSpPr txBox="1"/>
          <p:nvPr/>
        </p:nvSpPr>
        <p:spPr>
          <a:xfrm>
            <a:off x="6248399" y="2000920"/>
            <a:ext cx="5340221" cy="473578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indent="-285750" algn="just">
              <a:lnSpc>
                <a:spcPct val="90000"/>
              </a:lnSpc>
              <a:buClr>
                <a:schemeClr val="dk1"/>
              </a:buClr>
              <a:buSzPts val="1600"/>
              <a:buFont typeface="Noto Sans Symbols"/>
              <a:buChar char="⮚"/>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S</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mart medicine vending machine connect to a companion mobile app that provides additional features like medication schedules, refill reminders, dosage instructions, and the ability to track medication history and enable users to share medication data with healthcare professionals or family members for better support and monitoring.</a:t>
            </a:r>
          </a:p>
          <a:p>
            <a:pPr algn="just">
              <a:lnSpc>
                <a:spcPct val="90000"/>
              </a:lnSpc>
              <a:buClr>
                <a:schemeClr val="dk1"/>
              </a:buClr>
              <a:buSzPts val="1600"/>
            </a:pPr>
            <a:endParaRPr lang="en-IN" sz="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90000"/>
              </a:lnSpc>
              <a:buClr>
                <a:schemeClr val="dk1"/>
              </a:buClr>
              <a:buSzPts val="1600"/>
              <a:buFont typeface="Noto Sans Symbols"/>
              <a:buChar char="⮚"/>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In case a dose is missed or not taken within a specified time, this device can send alerts to designated individuals, such as caregivers or family members that ensures prompt intervention and helps prevent medication gaps or potential health risks.</a:t>
            </a:r>
          </a:p>
          <a:p>
            <a:pPr algn="just">
              <a:lnSpc>
                <a:spcPct val="90000"/>
              </a:lnSpc>
              <a:buClr>
                <a:schemeClr val="dk1"/>
              </a:buClr>
              <a:buSzPts val="1600"/>
            </a:pPr>
            <a:endParaRPr lang="en-IN" sz="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90000"/>
              </a:lnSpc>
              <a:buClr>
                <a:schemeClr val="dk1"/>
              </a:buClr>
              <a:buSzPts val="1600"/>
              <a:buFont typeface="Noto Sans Symbols"/>
              <a:buChar char="⮚"/>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The system automatically dispenses the right medications at the prescribed times, eliminating the need for manual pill sorting and organizing. This feature helps prevent medication errors and ensures that the individual takes the correct dose at the right time.</a:t>
            </a:r>
          </a:p>
          <a:p>
            <a:pPr algn="just">
              <a:lnSpc>
                <a:spcPct val="90000"/>
              </a:lnSpc>
              <a:buClr>
                <a:schemeClr val="dk1"/>
              </a:buClr>
              <a:buSzPts val="1600"/>
            </a:pPr>
            <a:endParaRPr lang="en-IN" sz="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90000"/>
              </a:lnSpc>
              <a:buClr>
                <a:schemeClr val="dk1"/>
              </a:buClr>
              <a:buSzPts val="1600"/>
              <a:buFont typeface="Noto Sans Symbols"/>
              <a:buChar char="⮚"/>
            </a:pPr>
            <a:r>
              <a:rPr lang="en-IN" sz="1400" dirty="0">
                <a:effectLst/>
                <a:latin typeface="Times New Roman" panose="02020603050405020304" pitchFamily="18" charset="0"/>
                <a:ea typeface="Calibri" panose="020F0502020204030204" pitchFamily="34" charset="0"/>
                <a:cs typeface="Times New Roman" panose="02020603050405020304" pitchFamily="18" charset="0"/>
              </a:rPr>
              <a:t>It enable remote monitoring capabilities to allow caregivers or healthcare professionals to track medication usage, monitor refill needs, and address any issues remotely using Wi-Fi or cellular network. </a:t>
            </a: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90000"/>
              </a:lnSpc>
              <a:buClr>
                <a:schemeClr val="dk1"/>
              </a:buClr>
              <a:buSzPts val="1600"/>
              <a:buFont typeface="Noto Sans Symbols"/>
              <a:buChar char="⮚"/>
            </a:pPr>
            <a:endParaRPr lang="en-IN" sz="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90000"/>
              </a:lnSpc>
              <a:buClr>
                <a:schemeClr val="dk1"/>
              </a:buClr>
              <a:buSzPts val="1600"/>
              <a:buFont typeface="Noto Sans Symbols"/>
              <a:buChar char="⮚"/>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In corporate this system can verify prescriptions before dispensing the medication. This can be done through barcodes, QR codes, or electronic prescription systems to ensure that only authorized medications are provided.</a:t>
            </a:r>
          </a:p>
        </p:txBody>
      </p:sp>
    </p:spTree>
    <p:extLst>
      <p:ext uri="{BB962C8B-B14F-4D97-AF65-F5344CB8AC3E}">
        <p14:creationId xmlns:p14="http://schemas.microsoft.com/office/powerpoint/2010/main" val="3213096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ackomed Round 1" id="{249392BA-B1EC-764B-B7DF-CE519CBE71E3}" vid="{4570344F-5F1A-4A4B-9E86-4AFBF3111E3E}"/>
    </a:ext>
  </a:extLst>
</a:theme>
</file>

<file path=docProps/app.xml><?xml version="1.0" encoding="utf-8"?>
<Properties xmlns="http://schemas.openxmlformats.org/officeDocument/2006/extended-properties" xmlns:vt="http://schemas.openxmlformats.org/officeDocument/2006/docPropsVTypes">
  <Template/>
  <TotalTime>1108</TotalTime>
  <Words>662</Words>
  <Application>Microsoft Office PowerPoint</Application>
  <PresentationFormat>Widescreen</PresentationFormat>
  <Paragraphs>70</Paragraphs>
  <Slides>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vt:i4>
      </vt:variant>
    </vt:vector>
  </HeadingPairs>
  <TitlesOfParts>
    <vt:vector size="15" baseType="lpstr">
      <vt:lpstr>Arial</vt:lpstr>
      <vt:lpstr>Calibri</vt:lpstr>
      <vt:lpstr>Calibri Light</vt:lpstr>
      <vt:lpstr>Copperplate Gothic Bold</vt:lpstr>
      <vt:lpstr>Franklin Gothic</vt:lpstr>
      <vt:lpstr>Franklin Gothic Medium</vt:lpstr>
      <vt:lpstr>Libre Franklin</vt:lpstr>
      <vt:lpstr>Noto Sans Symbols</vt:lpstr>
      <vt:lpstr>Times New Roman</vt:lpstr>
      <vt:lpstr>Wingdings</vt:lpstr>
      <vt:lpstr>Office Theme</vt:lpstr>
      <vt:lpstr>Basic Details of the Team and Problem Statement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Details of the Team and Problem Statement</dc:title>
  <dc:creator>Microsoft Office User</dc:creator>
  <cp:lastModifiedBy>Soumayadeep Pal</cp:lastModifiedBy>
  <cp:revision>19</cp:revision>
  <dcterms:created xsi:type="dcterms:W3CDTF">2023-07-05T11:16:30Z</dcterms:created>
  <dcterms:modified xsi:type="dcterms:W3CDTF">2023-08-10T16:47:01Z</dcterms:modified>
</cp:coreProperties>
</file>